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우리반 허브는 공지를 전하고, 학생이 확인했는지까지 챙기는 학급 안내 앱입니다. 지금은 개발 중인 공개 체험 단계이고, 화면 속 이름과 학교는 모두 예시입니다.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단체 대화방으로 공지를 하면 생기는 세 가지 걱정과, 우리반 허브가 각각을 어떻게 풀었는지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우리반 허브의 핵심 장점 네 가지입니다. 다음 장부터 공지를 올린 하루를 실제 화면으로 따라가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체육대회 날짜가 바뀐 하루를 예로 듭니다. 선생님이 공지를 고치면 학생 칠판에 노란 '바뀜' 표시로 다시 올라오고, 이미 확인한 학생도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점심에 선생님은 확인 현황을 봅니다. 확인한 학생, 고친 뒤 아직 안 본 학생, 아예 안 본 학생이 나뉘어 보이고, 안 본 학생에게만 앱 안에서 다시 알릴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방과 후 학생이 궁금한 점을 담임 선생님께만 물어봅니다. 다른 학생에게는 보이지 않는 1:1 도움 대화입니다.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선생님이 처음 쓰는 날의 네 단계입니다. 반을 만들고, QR 코드를 보여 주고, 학생을 승인한 뒤, 칠판에 첫 글을 올립니다.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화면에는 아직 안 본 것과 오늘 챙길 것이 먼저 나옵니다. 소식 목록, 기간별 따라잡기, 일정, 급식을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 투표와 대표 선거입니다. 투표를 만들 때 학생별 선택을 선생님이 볼지, 결과를 언제 공개할지 정할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교실 PC나 노트북으로 열면 칠판, 소식, 처리할 일이 한 화면에 나란히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단체 대화방, 알림장형 앱, 커뮤니티형 학급 앱과 종류별로 비교했습니다. 특정 서비스를 가리키지 않으며, 우리반 허브는 공지를 전하고 확인받는 일에 집중합니다.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학생과 학부모, 학교 관리자가 가장 궁금해할 개인정보와 안전 부분입니다. 전화번호를 받지 않고, 선생님이 승인한 학생만 반 자료를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우리반 허브는 아직 개발 중인 공개 체험판입니다. 학부모 화면은 없고, 실제 학생 정보 대신 예시 정보로 체험해 달라고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소개 사이트에서 최신 앱 주소와 체험 방법을 안내합니다. 의견은 사이트의 '의견 보내기'로 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2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10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1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4522"/>
            <a:ext cx="10566400" cy="4170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2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10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1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4522"/>
            <a:ext cx="10566400" cy="4170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kkoma1212.github.io/uriban-hub-site/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5C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F5C48"/>
              </a:gs>
              <a:gs pos="100000">
                <a:srgbClr val="1B3A2D"/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273050" y="273050"/>
            <a:ext cx="11645900" cy="6311900"/>
          </a:xfrm>
          <a:prstGeom prst="roundRect">
            <a:avLst>
              <a:gd name="adj" fmla="val 2515"/>
            </a:avLst>
          </a:prstGeom>
          <a:noFill/>
          <a:ln w="38100">
            <a:solidFill>
              <a:srgbClr val="B58C5C"/>
            </a:solidFill>
            <a:prstDash val="solid"/>
          </a:ln>
        </p:spPr>
      </p:sp>
      <p:pic>
        <p:nvPicPr>
          <p:cNvPr id="4" name="Image 0" descr="우리반 허브 앱 아이콘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432560"/>
            <a:ext cx="457200" cy="457200"/>
          </a:xfrm>
          <a:prstGeom prst="roundRect">
            <a:avLst>
              <a:gd name="adj" fmla="val 25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1397000" y="1483360"/>
            <a:ext cx="13398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spc="-50" kern="0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우리반 허브</a:t>
            </a:r>
            <a:endParaRPr lang="en-US" sz="20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2092960"/>
            <a:ext cx="6069584" cy="2128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b="1" i="0" spc="-150" kern="0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공지를 올리면</a:t>
            </a:r>
            <a:endParaRPr lang="en-US" sz="4800" dirty="0"/>
          </a:p>
          <a:p>
            <a:pPr algn="l" indent="0" marL="0">
              <a:lnSpc>
                <a:spcPts val="5520"/>
              </a:lnSpc>
              <a:buNone/>
            </a:pPr>
            <a:r>
              <a:rPr lang="en-US" sz="4800" b="1" i="0" spc="-150" kern="0" dirty="0">
                <a:solidFill>
                  <a:srgbClr val="F5C84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누가 확인했는지</a:t>
            </a:r>
            <a:endParaRPr lang="en-US" sz="4800" dirty="0"/>
          </a:p>
          <a:p>
            <a:pPr algn="l" indent="0" marL="0">
              <a:lnSpc>
                <a:spcPts val="5520"/>
              </a:lnSpc>
              <a:buNone/>
            </a:pPr>
            <a:r>
              <a:rPr lang="en-US" sz="4800" b="1" i="0" spc="-150" kern="0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바로 보여요.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12800" y="4399280"/>
            <a:ext cx="606958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3EBE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공지·숙제·준비물·일정을 우리반 칠판 한곳에 올려요. 학생은 아직 안 본 것부터 보고, 선생님은 확인하지 않은 학생에게만 다시 알려요.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2800" y="5212080"/>
            <a:ext cx="60695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8D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개발 중인 학급 안내 앱 · 공개 체험 · 화면 속 학교·이름·날짜는 모두 예시예요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12000" y="1134745"/>
            <a:ext cx="2032000" cy="4248150"/>
          </a:xfrm>
          <a:prstGeom prst="roundRect">
            <a:avLst>
              <a:gd name="adj" fmla="val 13750"/>
            </a:avLst>
          </a:prstGeom>
          <a:solidFill>
            <a:srgbClr val="2A2925"/>
          </a:solidFill>
          <a:ln/>
          <a:effectLst>
            <a:outerShdw sx="100000" sy="100000" kx="0" ky="0" algn="bl" rotWithShape="0" blurRad="152400" dist="152400" dir="5400000">
              <a:srgbClr val="000000">
                <a:alpha val="60000"/>
              </a:srgbClr>
            </a:outerShdw>
          </a:effectLst>
        </p:spPr>
      </p:sp>
      <p:pic>
        <p:nvPicPr>
          <p:cNvPr id="10" name="Image 1" descr="선생님 홈 화면: 맨 위 우리반 칠판에 중요 공지와 준비물, '칠판에 쓰기' 버튼, 그 아래 처리할 일과 우리반 소식">    </p:cNvPr>
          <p:cNvPicPr>
            <a:picLocks noChangeAspect="1"/>
          </p:cNvPicPr>
          <p:nvPr/>
        </p:nvPicPr>
        <p:blipFill>
          <a:blip r:embed="rId2"/>
          <a:srcRect l="0" r="0" t="18" b="18"/>
          <a:stretch/>
        </p:blipFill>
        <p:spPr>
          <a:xfrm>
            <a:off x="7175500" y="1198245"/>
            <a:ext cx="1905000" cy="4121150"/>
          </a:xfrm>
          <a:prstGeom prst="roundRect">
            <a:avLst>
              <a:gd name="adj" fmla="val 11333"/>
            </a:avLst>
          </a:prstGeom>
        </p:spPr>
      </p:pic>
      <p:sp>
        <p:nvSpPr>
          <p:cNvPr id="11" name="Text 7"/>
          <p:cNvSpPr/>
          <p:nvPr/>
        </p:nvSpPr>
        <p:spPr>
          <a:xfrm>
            <a:off x="7790728" y="5509895"/>
            <a:ext cx="6744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선생님 홈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347200" y="1134745"/>
            <a:ext cx="2032000" cy="4248150"/>
          </a:xfrm>
          <a:prstGeom prst="roundRect">
            <a:avLst>
              <a:gd name="adj" fmla="val 13750"/>
            </a:avLst>
          </a:prstGeom>
          <a:solidFill>
            <a:srgbClr val="2A2925"/>
          </a:solidFill>
          <a:ln/>
          <a:effectLst>
            <a:outerShdw sx="100000" sy="100000" kx="0" ky="0" algn="bl" rotWithShape="0" blurRad="152400" dist="152400" dir="5400000">
              <a:srgbClr val="000000">
                <a:alpha val="60000"/>
              </a:srgbClr>
            </a:outerShdw>
          </a:effectLst>
        </p:spPr>
      </p:sp>
      <p:pic>
        <p:nvPicPr>
          <p:cNvPr id="13" name="Image 2" descr="학생 홈 화면: '선생님께 물어보기' 버튼, '바뀜' 표시가 붙은 공지가 있는 우리반 칠판, 오늘 급식과 가까운 일정">    </p:cNvPr>
          <p:cNvPicPr>
            <a:picLocks noChangeAspect="1"/>
          </p:cNvPicPr>
          <p:nvPr/>
        </p:nvPicPr>
        <p:blipFill>
          <a:blip r:embed="rId3"/>
          <a:srcRect l="0" r="0" t="18" b="18"/>
          <a:stretch/>
        </p:blipFill>
        <p:spPr>
          <a:xfrm>
            <a:off x="9410700" y="1198245"/>
            <a:ext cx="1905000" cy="4121150"/>
          </a:xfrm>
          <a:prstGeom prst="roundRect">
            <a:avLst>
              <a:gd name="adj" fmla="val 11333"/>
            </a:avLst>
          </a:prstGeom>
        </p:spPr>
      </p:pic>
      <p:sp>
        <p:nvSpPr>
          <p:cNvPr id="14" name="Text 9"/>
          <p:cNvSpPr/>
          <p:nvPr/>
        </p:nvSpPr>
        <p:spPr>
          <a:xfrm>
            <a:off x="10104978" y="5509895"/>
            <a:ext cx="5164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학생 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14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왜 만들었나요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spc="-10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단체 대화방 공지, 이런 걱정이 있었어요.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28495"/>
            <a:ext cx="3380264" cy="3910330"/>
          </a:xfrm>
          <a:prstGeom prst="roundRect">
            <a:avLst>
              <a:gd name="adj" fmla="val 4415"/>
            </a:avLst>
          </a:prstGeom>
          <a:solidFill>
            <a:srgbClr val="FFFDF9"/>
          </a:solidFill>
          <a:ln w="6350">
            <a:solidFill>
              <a:srgbClr val="E2D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680" y="2235200"/>
            <a:ext cx="457200" cy="63500"/>
          </a:xfrm>
          <a:prstGeom prst="roundRect">
            <a:avLst>
              <a:gd name="adj" fmla="val 50000"/>
            </a:avLst>
          </a:prstGeom>
          <a:solidFill>
            <a:srgbClr val="244D3C"/>
          </a:solidFill>
          <a:ln/>
        </p:spPr>
      </p:sp>
      <p:sp>
        <p:nvSpPr>
          <p:cNvPr id="6" name="Text 4"/>
          <p:cNvSpPr/>
          <p:nvPr/>
        </p:nvSpPr>
        <p:spPr>
          <a:xfrm>
            <a:off x="1122680" y="2451100"/>
            <a:ext cx="284985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“대화가 많으면 공지를 찾기 어려워요”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2680" y="2834640"/>
            <a:ext cx="28498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spc="-5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칠판에 꼭 볼 것만 올라와요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22680" y="3304540"/>
            <a:ext cx="2849859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A484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학생 홈 맨 위 칠판에 바뀐 공지·중요 공지·챙길 준비물 중 꼭 볼 것 3가지가 올라와요.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5789" y="1928495"/>
            <a:ext cx="3380343" cy="3910330"/>
          </a:xfrm>
          <a:prstGeom prst="roundRect">
            <a:avLst>
              <a:gd name="adj" fmla="val 4414"/>
            </a:avLst>
          </a:prstGeom>
          <a:solidFill>
            <a:srgbClr val="FFFDF9"/>
          </a:solidFill>
          <a:ln w="6350">
            <a:solidFill>
              <a:srgbClr val="E2D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12494" y="2235200"/>
            <a:ext cx="457200" cy="63500"/>
          </a:xfrm>
          <a:prstGeom prst="roundRect">
            <a:avLst>
              <a:gd name="adj" fmla="val 50000"/>
            </a:avLst>
          </a:prstGeom>
          <a:solidFill>
            <a:srgbClr val="7A4E24"/>
          </a:solidFill>
          <a:ln/>
        </p:spPr>
      </p:sp>
      <p:sp>
        <p:nvSpPr>
          <p:cNvPr id="11" name="Text 9"/>
          <p:cNvSpPr/>
          <p:nvPr/>
        </p:nvSpPr>
        <p:spPr>
          <a:xfrm>
            <a:off x="4712494" y="2451100"/>
            <a:ext cx="284994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“누가 공지를 봤는지 알 수 없어요”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12494" y="2834640"/>
            <a:ext cx="2849941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spc="-5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확인한 학생이 이름으로 보여요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12494" y="3622040"/>
            <a:ext cx="2849941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A484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확인한 학생과 아직 안 본 학생이 나뉘어 보이고, 안 본 학생에게만 다시 알려요.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95682" y="1928495"/>
            <a:ext cx="3380343" cy="3910330"/>
          </a:xfrm>
          <a:prstGeom prst="roundRect">
            <a:avLst>
              <a:gd name="adj" fmla="val 4414"/>
            </a:avLst>
          </a:prstGeom>
          <a:solidFill>
            <a:srgbClr val="FFFDF9"/>
          </a:solidFill>
          <a:ln w="6350">
            <a:solidFill>
              <a:srgbClr val="E2DD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387" y="2235200"/>
            <a:ext cx="457200" cy="63500"/>
          </a:xfrm>
          <a:prstGeom prst="roundRect">
            <a:avLst>
              <a:gd name="adj" fmla="val 50000"/>
            </a:avLst>
          </a:prstGeom>
          <a:solidFill>
            <a:srgbClr val="F5C842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387" y="2451100"/>
            <a:ext cx="284994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“공지 내용이 바뀌었어요”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02387" y="2834640"/>
            <a:ext cx="28499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spc="-5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고친 글은 다시 확인받아요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02387" y="3304540"/>
            <a:ext cx="2849941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A484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선생님이 글을 고치면 '바뀜' 표시가 붙고, 이미 확인한 학생도 다시 확인해요.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1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우리반 허브 · 공개 체험 소개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4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B9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우리반 허브는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61"/>
            <a:ext cx="10883392" cy="1000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spc="-100" kern="0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공지를 전하고 확인받는 일에 집중한</a:t>
            </a:r>
            <a:endParaRPr lang="en-US" sz="32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sz="3200" b="1" i="0" spc="-100" kern="0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학급 안내 앱이에요.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255520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FE0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공지·숙제·준비물·수행평가·일정을 우리반 칠판 한곳에 올리고, 학생이 확인했는지까지 챙겨요.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4244341"/>
            <a:ext cx="2451100" cy="0"/>
          </a:xfrm>
          <a:prstGeom prst="line">
            <a:avLst/>
          </a:prstGeom>
          <a:noFill/>
          <a:ln w="12700">
            <a:solidFill>
              <a:srgbClr val="5D85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4425950"/>
            <a:ext cx="252463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D9B9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12800" y="4972050"/>
            <a:ext cx="252463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누가 봤는지 이름으로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5346700"/>
            <a:ext cx="252463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FE0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확인한 학생과 아직 안 본 학생을 나눠 보여 줘요.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17900" y="4244341"/>
            <a:ext cx="2451100" cy="0"/>
          </a:xfrm>
          <a:prstGeom prst="line">
            <a:avLst/>
          </a:prstGeom>
          <a:noFill/>
          <a:ln w="12700">
            <a:solidFill>
              <a:srgbClr val="5D85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7900" y="4425950"/>
            <a:ext cx="252463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D9B9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17900" y="4972050"/>
            <a:ext cx="252463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고친 글은 다시 확인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17900" y="5346700"/>
            <a:ext cx="252463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FE0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'바뀜' 표시가 붙고, 이미 본 학생도 다시 확인해요.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23000" y="4244341"/>
            <a:ext cx="2451100" cy="0"/>
          </a:xfrm>
          <a:prstGeom prst="line">
            <a:avLst/>
          </a:prstGeom>
          <a:noFill/>
          <a:ln w="12700">
            <a:solidFill>
              <a:srgbClr val="5D85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3000" y="4425950"/>
            <a:ext cx="252463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D9B9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23000" y="4972050"/>
            <a:ext cx="252463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전화번호 없이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23000" y="5346700"/>
            <a:ext cx="252463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FE0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이메일로 가입하고, 선생님이 승인한 학생만 들어와요.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28100" y="4244341"/>
            <a:ext cx="2451100" cy="0"/>
          </a:xfrm>
          <a:prstGeom prst="line">
            <a:avLst/>
          </a:prstGeom>
          <a:noFill/>
          <a:ln w="12700">
            <a:solidFill>
              <a:srgbClr val="5D85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28100" y="4425950"/>
            <a:ext cx="252463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D9B9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928100" y="4972050"/>
            <a:ext cx="252463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설치 없이 바로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28100" y="5346700"/>
            <a:ext cx="252463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FE0D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휴대폰·교실 PC 브라우저에서 주소만 열면 돼요.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41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8D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우리반 허브 · 공개 체험 소개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92300"/>
            <a:ext cx="1324928" cy="314960"/>
          </a:xfrm>
          <a:prstGeom prst="roundRect">
            <a:avLst>
              <a:gd name="adj" fmla="val 50000"/>
            </a:avLst>
          </a:prstGeom>
          <a:solidFill>
            <a:srgbClr val="244D3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하루 예시 1 · 아침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10461"/>
            <a:ext cx="7966329" cy="1000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spc="-10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고친 공지는 학생 칠판에</a:t>
            </a:r>
            <a:endParaRPr lang="en-US" sz="32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sz="3200" b="1" i="0" spc="-10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'바뀜'으로 올라와요.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589020"/>
            <a:ext cx="598408" cy="289560"/>
          </a:xfrm>
          <a:prstGeom prst="roundRect">
            <a:avLst>
              <a:gd name="adj" fmla="val 21930"/>
            </a:avLst>
          </a:prstGeom>
          <a:solidFill>
            <a:srgbClr val="7A4E2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7F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선생님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38208" y="3589020"/>
            <a:ext cx="3053525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F2E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체육대회 날짜를 고쳐 다시 올려요.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4030980"/>
            <a:ext cx="466646" cy="289560"/>
          </a:xfrm>
          <a:prstGeom prst="roundRect">
            <a:avLst>
              <a:gd name="adj" fmla="val 21930"/>
            </a:avLst>
          </a:prstGeom>
          <a:solidFill>
            <a:srgbClr val="2B614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학생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06446" y="4030980"/>
            <a:ext cx="538534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F2E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칠판에서 '바뀜' 표시를 보고 글을 열어 '확인했어요'를 눌러요.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4472941"/>
            <a:ext cx="466646" cy="289560"/>
          </a:xfrm>
          <a:prstGeom prst="roundRect">
            <a:avLst>
              <a:gd name="adj" fmla="val 21930"/>
            </a:avLst>
          </a:prstGeom>
          <a:solidFill>
            <a:srgbClr val="D4DC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알림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06446" y="4472941"/>
            <a:ext cx="531733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F2E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수업 시간과 밤에는 바로 보내지 않고, 나중에 모아서 보내요.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56700" y="996950"/>
            <a:ext cx="2222500" cy="4660900"/>
          </a:xfrm>
          <a:prstGeom prst="roundRect">
            <a:avLst>
              <a:gd name="adj" fmla="val 13143"/>
            </a:avLst>
          </a:prstGeom>
          <a:solidFill>
            <a:srgbClr val="2A2925"/>
          </a:solidFill>
          <a:ln/>
          <a:effectLst>
            <a:outerShdw sx="100000" sy="100000" kx="0" ky="0" algn="bl" rotWithShape="0" blurRad="152400" dist="152400" dir="5400000">
              <a:srgbClr val="20201D">
                <a:alpha val="45000"/>
              </a:srgbClr>
            </a:outerShdw>
          </a:effectLst>
        </p:spPr>
      </p:sp>
      <p:pic>
        <p:nvPicPr>
          <p:cNvPr id="11" name="Image 0" descr="학생의 공지 화면: 중요 공지에 '선생님이 글을 고쳤어요' 노란 안내, 바뀐 날짜와 준비물, 아래에 '질문'과 '확인했어요' 버튼">    </p:cNvPr>
          <p:cNvPicPr>
            <a:picLocks noChangeAspect="1"/>
          </p:cNvPicPr>
          <p:nvPr/>
        </p:nvPicPr>
        <p:blipFill>
          <a:blip r:embed="rId1"/>
          <a:srcRect l="0" r="0" t="11" b="11"/>
          <a:stretch/>
        </p:blipFill>
        <p:spPr>
          <a:xfrm>
            <a:off x="9220200" y="1060450"/>
            <a:ext cx="2095500" cy="4533900"/>
          </a:xfrm>
          <a:prstGeom prst="roundRect">
            <a:avLst>
              <a:gd name="adj" fmla="val 10909"/>
            </a:avLst>
          </a:prstGeom>
        </p:spPr>
      </p:pic>
      <p:sp>
        <p:nvSpPr>
          <p:cNvPr id="12" name="Text 9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우리반 허브 · 화면 속 학교·이름·날짜는 모두 예시예요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C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92300"/>
            <a:ext cx="1346597" cy="314960"/>
          </a:xfrm>
          <a:prstGeom prst="roundRect">
            <a:avLst>
              <a:gd name="adj" fmla="val 50000"/>
            </a:avLst>
          </a:prstGeom>
          <a:solidFill>
            <a:srgbClr val="7A4E2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7F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하루 예시 2 · 점심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10461"/>
            <a:ext cx="7966329" cy="1000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spc="-10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아직 안 본 학생에게만</a:t>
            </a:r>
            <a:endParaRPr lang="en-US" sz="32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sz="3200" b="1" i="0" spc="-10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다시 알려요.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589021"/>
            <a:ext cx="598408" cy="289560"/>
          </a:xfrm>
          <a:prstGeom prst="roundRect">
            <a:avLst>
              <a:gd name="adj" fmla="val 21930"/>
            </a:avLst>
          </a:prstGeom>
          <a:solidFill>
            <a:srgbClr val="7A4E2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7F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선생님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38208" y="3589021"/>
            <a:ext cx="591664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F2E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확인한 학생 · 고친 뒤 안 본 학생 · 아직 안 본 학생이 나뉘어 보여요.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4030982"/>
            <a:ext cx="897017" cy="289560"/>
          </a:xfrm>
          <a:prstGeom prst="roundRect">
            <a:avLst>
              <a:gd name="adj" fmla="val 21930"/>
            </a:avLst>
          </a:prstGeom>
          <a:solidFill>
            <a:srgbClr val="E2D6C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다시 알리기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36817" y="4030982"/>
            <a:ext cx="6184297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F2E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'7명에게 다시 알림'을 누르면 아직 안 본 학생에게만 앱 안에서 알려요.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4472939"/>
            <a:ext cx="466646" cy="289560"/>
          </a:xfrm>
          <a:prstGeom prst="roundRect">
            <a:avLst>
              <a:gd name="adj" fmla="val 21930"/>
            </a:avLst>
          </a:prstGeom>
          <a:solidFill>
            <a:srgbClr val="E2D6C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06446" y="4472939"/>
            <a:ext cx="2601087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F2E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문자나 메일은 보내지 않아요.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56700" y="996950"/>
            <a:ext cx="2222500" cy="4660900"/>
          </a:xfrm>
          <a:prstGeom prst="roundRect">
            <a:avLst>
              <a:gd name="adj" fmla="val 13143"/>
            </a:avLst>
          </a:prstGeom>
          <a:solidFill>
            <a:srgbClr val="2A2925"/>
          </a:solidFill>
          <a:ln/>
          <a:effectLst>
            <a:outerShdw sx="100000" sy="100000" kx="0" ky="0" algn="bl" rotWithShape="0" blurRad="152400" dist="152400" dir="5400000">
              <a:srgbClr val="20201D">
                <a:alpha val="45000"/>
              </a:srgbClr>
            </a:outerShdw>
          </a:effectLst>
        </p:spPr>
      </p:sp>
      <p:pic>
        <p:nvPicPr>
          <p:cNvPr id="11" name="Image 0" descr="선생님의 학생 확인 현황: 게시 대상 23명, 확인 16·고친 뒤 안 봄 0·아직 안 봄 7, 아직 안 본 학생 이름, 아래에 '7명에게 다시 알림' 버튼">    </p:cNvPr>
          <p:cNvPicPr>
            <a:picLocks noChangeAspect="1"/>
          </p:cNvPicPr>
          <p:nvPr/>
        </p:nvPicPr>
        <p:blipFill>
          <a:blip r:embed="rId1"/>
          <a:srcRect l="0" r="0" t="11" b="11"/>
          <a:stretch/>
        </p:blipFill>
        <p:spPr>
          <a:xfrm>
            <a:off x="9220200" y="1060450"/>
            <a:ext cx="2095500" cy="4533900"/>
          </a:xfrm>
          <a:prstGeom prst="roundRect">
            <a:avLst>
              <a:gd name="adj" fmla="val 10909"/>
            </a:avLst>
          </a:prstGeom>
        </p:spPr>
      </p:pic>
      <p:sp>
        <p:nvSpPr>
          <p:cNvPr id="12" name="Text 9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64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우리반 허브 · 화면 속 학교·이름·날짜는 모두 예시예요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1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92300"/>
            <a:ext cx="1517809" cy="314960"/>
          </a:xfrm>
          <a:prstGeom prst="roundRect">
            <a:avLst>
              <a:gd name="adj" fmla="val 50000"/>
            </a:avLst>
          </a:prstGeom>
          <a:solidFill>
            <a:srgbClr val="7D5A1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DF8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하루 예시 3 · 방과 후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10461"/>
            <a:ext cx="7966329" cy="1000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spc="-10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궁금한 건</a:t>
            </a:r>
            <a:endParaRPr lang="en-US" sz="32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sz="3200" b="1" i="0" spc="-10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선생님께만 물어봐요.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589021"/>
            <a:ext cx="466646" cy="289560"/>
          </a:xfrm>
          <a:prstGeom prst="roundRect">
            <a:avLst>
              <a:gd name="adj" fmla="val 21930"/>
            </a:avLst>
          </a:prstGeom>
          <a:solidFill>
            <a:srgbClr val="2B614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학생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06446" y="3589021"/>
            <a:ext cx="603542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F2E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'선생님께 물어보기'나 공지 아래 '질문'을 눌러 담임 선생님께 보내요.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4030982"/>
            <a:ext cx="598408" cy="289560"/>
          </a:xfrm>
          <a:prstGeom prst="roundRect">
            <a:avLst>
              <a:gd name="adj" fmla="val 21930"/>
            </a:avLst>
          </a:prstGeom>
          <a:solidFill>
            <a:srgbClr val="7A4E2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7F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선생님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38208" y="4030982"/>
            <a:ext cx="3400425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F2E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홈의 '처리할 일'에서 바로 열어 답해요.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4472939"/>
            <a:ext cx="389096" cy="289560"/>
          </a:xfrm>
          <a:prstGeom prst="roundRect">
            <a:avLst>
              <a:gd name="adj" fmla="val 21930"/>
            </a:avLst>
          </a:prstGeom>
          <a:solidFill>
            <a:srgbClr val="ECDCA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1:1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8896" y="4472939"/>
            <a:ext cx="3703606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F2E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대화는 질문한 학생과 담임 선생님만 봐요.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56700" y="996950"/>
            <a:ext cx="2222500" cy="4660900"/>
          </a:xfrm>
          <a:prstGeom prst="roundRect">
            <a:avLst>
              <a:gd name="adj" fmla="val 13143"/>
            </a:avLst>
          </a:prstGeom>
          <a:solidFill>
            <a:srgbClr val="2A2925"/>
          </a:solidFill>
          <a:ln/>
          <a:effectLst>
            <a:outerShdw sx="100000" sy="100000" kx="0" ky="0" algn="bl" rotWithShape="0" blurRad="152400" dist="152400" dir="5400000">
              <a:srgbClr val="20201D">
                <a:alpha val="45000"/>
              </a:srgbClr>
            </a:outerShdw>
          </a:effectLst>
        </p:spPr>
      </p:sp>
      <p:pic>
        <p:nvPicPr>
          <p:cNvPr id="11" name="Image 0" descr="학생과 담임 선생님의 도움 대화: 학생이 수채화 물감을 빌려도 되는지 묻고 선생님이 답한 대화, '선생님만 볼 수 있어요' 안내">    </p:cNvPr>
          <p:cNvPicPr>
            <a:picLocks noChangeAspect="1"/>
          </p:cNvPicPr>
          <p:nvPr/>
        </p:nvPicPr>
        <p:blipFill>
          <a:blip r:embed="rId1"/>
          <a:srcRect l="0" r="0" t="11" b="11"/>
          <a:stretch/>
        </p:blipFill>
        <p:spPr>
          <a:xfrm>
            <a:off x="9220200" y="1060450"/>
            <a:ext cx="2095500" cy="4533900"/>
          </a:xfrm>
          <a:prstGeom prst="roundRect">
            <a:avLst>
              <a:gd name="adj" fmla="val 10909"/>
            </a:avLst>
          </a:prstGeom>
        </p:spPr>
      </p:pic>
      <p:sp>
        <p:nvSpPr>
          <p:cNvPr id="12" name="Text 9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44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우리반 허브 · 화면 속 학교·이름·날짜는 모두 예시예요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14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시작 방법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spc="-10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처음 쓰는 날은 이 순서로 하면 돼요.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48285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244D3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0800" y="2482850"/>
            <a:ext cx="4408297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 만들기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0800" y="2785111"/>
            <a:ext cx="4408297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학교와 학년·반을 고르면 초대 코드와 QR 코드가 생겨요.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3202307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244D3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0800" y="3202307"/>
            <a:ext cx="4408297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QR 코드 보여 주기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0800" y="3504564"/>
            <a:ext cx="4408297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학생은 QR 코드를 찍거나 초대 코드를 입력해 참여를 요청해요.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3921761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244D3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0800" y="3921761"/>
            <a:ext cx="4408297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학생 승인하기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0800" y="4224021"/>
            <a:ext cx="4408297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'대기 학생 모두 승인' 버튼으로 한꺼번에 승인해요.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4641214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7A4E2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FBF7F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0800" y="4641214"/>
            <a:ext cx="4408297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칠판에 첫 글 쓰기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0800" y="4943475"/>
            <a:ext cx="4408297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공지·숙제·준비물·수행평가를 한 화면에서 골라 올려요.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07100" y="1906907"/>
            <a:ext cx="1689100" cy="3536950"/>
          </a:xfrm>
          <a:prstGeom prst="roundRect">
            <a:avLst>
              <a:gd name="adj" fmla="val 13534"/>
            </a:avLst>
          </a:prstGeom>
          <a:solidFill>
            <a:srgbClr val="2A2925"/>
          </a:solidFill>
          <a:ln/>
          <a:effectLst>
            <a:outerShdw sx="100000" sy="100000" kx="0" ky="0" algn="bl" rotWithShape="0" blurRad="101600" dist="127000" dir="5400000">
              <a:srgbClr val="20201D">
                <a:alpha val="45000"/>
              </a:srgbClr>
            </a:outerShdw>
          </a:effectLst>
        </p:spPr>
      </p:sp>
      <p:pic>
        <p:nvPicPr>
          <p:cNvPr id="17" name="Image 0" descr="학생 초대 화면: QR 코드와 초대 코드, '코드 복사'·'새 코드' 버튼과 사용 기한">    </p:cNvPr>
          <p:cNvPicPr>
            <a:picLocks noChangeAspect="1"/>
          </p:cNvPicPr>
          <p:nvPr/>
        </p:nvPicPr>
        <p:blipFill>
          <a:blip r:embed="rId1"/>
          <a:srcRect l="0" r="0" t="2" b="2"/>
          <a:stretch/>
        </p:blipFill>
        <p:spPr>
          <a:xfrm>
            <a:off x="6057900" y="1957707"/>
            <a:ext cx="1587500" cy="3435350"/>
          </a:xfrm>
          <a:prstGeom prst="roundRect">
            <a:avLst>
              <a:gd name="adj" fmla="val 11200"/>
            </a:avLst>
          </a:prstGeom>
        </p:spPr>
      </p:pic>
      <p:sp>
        <p:nvSpPr>
          <p:cNvPr id="18" name="Text 15"/>
          <p:cNvSpPr/>
          <p:nvPr/>
        </p:nvSpPr>
        <p:spPr>
          <a:xfrm>
            <a:off x="6421882" y="5545457"/>
            <a:ext cx="8595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 · QR 코드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48600" y="1906907"/>
            <a:ext cx="1689100" cy="3536950"/>
          </a:xfrm>
          <a:prstGeom prst="roundRect">
            <a:avLst>
              <a:gd name="adj" fmla="val 13534"/>
            </a:avLst>
          </a:prstGeom>
          <a:solidFill>
            <a:srgbClr val="2A2925"/>
          </a:solidFill>
          <a:ln/>
          <a:effectLst>
            <a:outerShdw sx="100000" sy="100000" kx="0" ky="0" algn="bl" rotWithShape="0" blurRad="101600" dist="127000" dir="5400000">
              <a:srgbClr val="20201D">
                <a:alpha val="45000"/>
              </a:srgbClr>
            </a:outerShdw>
          </a:effectLst>
        </p:spPr>
      </p:sp>
      <p:pic>
        <p:nvPicPr>
          <p:cNvPr id="20" name="Image 1" descr="선생님의 학생 화면: 대기 3·참여 24·제외 0 탭, '대기 학생 모두 승인 (3명)' 버튼, 일부를 가린 이메일">    </p:cNvPr>
          <p:cNvPicPr>
            <a:picLocks noChangeAspect="1"/>
          </p:cNvPicPr>
          <p:nvPr/>
        </p:nvPicPr>
        <p:blipFill>
          <a:blip r:embed="rId2"/>
          <a:srcRect l="0" r="0" t="2" b="2"/>
          <a:stretch/>
        </p:blipFill>
        <p:spPr>
          <a:xfrm>
            <a:off x="7899400" y="1957707"/>
            <a:ext cx="1587500" cy="3435350"/>
          </a:xfrm>
          <a:prstGeom prst="roundRect">
            <a:avLst>
              <a:gd name="adj" fmla="val 11200"/>
            </a:avLst>
          </a:prstGeom>
        </p:spPr>
      </p:pic>
      <p:sp>
        <p:nvSpPr>
          <p:cNvPr id="21" name="Text 17"/>
          <p:cNvSpPr/>
          <p:nvPr/>
        </p:nvSpPr>
        <p:spPr>
          <a:xfrm>
            <a:off x="8229386" y="5545457"/>
            <a:ext cx="9274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 · 학생 승인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9690100" y="1906907"/>
            <a:ext cx="1689100" cy="3536950"/>
          </a:xfrm>
          <a:prstGeom prst="roundRect">
            <a:avLst>
              <a:gd name="adj" fmla="val 13534"/>
            </a:avLst>
          </a:prstGeom>
          <a:solidFill>
            <a:srgbClr val="2A2925"/>
          </a:solidFill>
          <a:ln/>
          <a:effectLst>
            <a:outerShdw sx="100000" sy="100000" kx="0" ky="0" algn="bl" rotWithShape="0" blurRad="101600" dist="127000" dir="5400000">
              <a:srgbClr val="20201D">
                <a:alpha val="45000"/>
              </a:srgbClr>
            </a:outerShdw>
          </a:effectLst>
        </p:spPr>
      </p:sp>
      <p:pic>
        <p:nvPicPr>
          <p:cNvPr id="23" name="Image 2" descr="소식 쓰기 화면: 공지·숙제·준비물·수행평가 종류 버튼, 제목과 본문, '지난 글 불러오기'와 '중요 공지로 표시', '올리기' 버튼">    </p:cNvPr>
          <p:cNvPicPr>
            <a:picLocks noChangeAspect="1"/>
          </p:cNvPicPr>
          <p:nvPr/>
        </p:nvPicPr>
        <p:blipFill>
          <a:blip r:embed="rId3"/>
          <a:srcRect l="0" r="0" t="2" b="2"/>
          <a:stretch/>
        </p:blipFill>
        <p:spPr>
          <a:xfrm>
            <a:off x="9740900" y="1957707"/>
            <a:ext cx="1587500" cy="3435350"/>
          </a:xfrm>
          <a:prstGeom prst="roundRect">
            <a:avLst>
              <a:gd name="adj" fmla="val 11200"/>
            </a:avLst>
          </a:prstGeom>
        </p:spPr>
      </p:pic>
      <p:sp>
        <p:nvSpPr>
          <p:cNvPr id="24" name="Text 19"/>
          <p:cNvSpPr/>
          <p:nvPr/>
        </p:nvSpPr>
        <p:spPr>
          <a:xfrm>
            <a:off x="10048121" y="5545457"/>
            <a:ext cx="9729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 · 첫 글 쓰기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우리반 허브 · 공개 체험 소개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14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학생 · 챙기기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spc="-10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학생은 아직 안 본 것과 챙길 것부터 봐요.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39850" y="1823721"/>
            <a:ext cx="1435100" cy="2990850"/>
          </a:xfrm>
          <a:prstGeom prst="roundRect">
            <a:avLst>
              <a:gd name="adj" fmla="val 15044"/>
            </a:avLst>
          </a:prstGeom>
          <a:solidFill>
            <a:srgbClr val="2A2925"/>
          </a:solidFill>
          <a:ln/>
          <a:effectLst>
            <a:outerShdw sx="100000" sy="100000" kx="0" ky="0" algn="bl" rotWithShape="0" blurRad="101600" dist="127000" dir="5400000">
              <a:srgbClr val="20201D">
                <a:alpha val="45000"/>
              </a:srgbClr>
            </a:outerShdw>
          </a:effectLst>
        </p:spPr>
      </p:sp>
      <p:pic>
        <p:nvPicPr>
          <p:cNvPr id="5" name="Image 0" descr="학생의 소식 목록: 전체·공지·숙제·준비물·수행평가 필터와 오늘 올라온 공지들, 각 카드의 '아직 안 했어요' 표시">    </p:cNvPr>
          <p:cNvPicPr>
            <a:picLocks noChangeAspect="1"/>
          </p:cNvPicPr>
          <p:nvPr/>
        </p:nvPicPr>
        <p:blipFill>
          <a:blip r:embed="rId1"/>
          <a:srcRect l="59" r="59" t="0" b="0"/>
          <a:stretch/>
        </p:blipFill>
        <p:spPr>
          <a:xfrm>
            <a:off x="1390650" y="1874521"/>
            <a:ext cx="1333500" cy="2889250"/>
          </a:xfrm>
          <a:prstGeom prst="roundRect">
            <a:avLst>
              <a:gd name="adj" fmla="val 12381"/>
            </a:avLst>
          </a:prstGeom>
        </p:spPr>
      </p:pic>
      <p:sp>
        <p:nvSpPr>
          <p:cNvPr id="6" name="Text 3"/>
          <p:cNvSpPr/>
          <p:nvPr/>
        </p:nvSpPr>
        <p:spPr>
          <a:xfrm>
            <a:off x="1548479" y="4916171"/>
            <a:ext cx="10178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소식 한 목록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5462" y="5231129"/>
            <a:ext cx="256387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F4A4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공지·숙제·준비물을 한 목록에서, 안 한 것만 골라 봐요.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32250" y="1823721"/>
            <a:ext cx="1435100" cy="2990850"/>
          </a:xfrm>
          <a:prstGeom prst="roundRect">
            <a:avLst>
              <a:gd name="adj" fmla="val 15044"/>
            </a:avLst>
          </a:prstGeom>
          <a:solidFill>
            <a:srgbClr val="2A2925"/>
          </a:solidFill>
          <a:ln/>
          <a:effectLst>
            <a:outerShdw sx="100000" sy="100000" kx="0" ky="0" algn="bl" rotWithShape="0" blurRad="101600" dist="127000" dir="5400000">
              <a:srgbClr val="20201D">
                <a:alpha val="45000"/>
              </a:srgbClr>
            </a:outerShdw>
          </a:effectLst>
        </p:spPr>
      </p:sp>
      <p:pic>
        <p:nvPicPr>
          <p:cNvPr id="9" name="Image 1" descr="기간별 따라잡기: 기간을 고르고 '지금 살펴볼 안내 4개', '바뀐 안내부터 확인해요'에 다시 확인할 공지">    </p:cNvPr>
          <p:cNvPicPr>
            <a:picLocks noChangeAspect="1"/>
          </p:cNvPicPr>
          <p:nvPr/>
        </p:nvPicPr>
        <p:blipFill>
          <a:blip r:embed="rId2"/>
          <a:srcRect l="59" r="59" t="0" b="0"/>
          <a:stretch/>
        </p:blipFill>
        <p:spPr>
          <a:xfrm>
            <a:off x="4083050" y="1874521"/>
            <a:ext cx="1333500" cy="2889250"/>
          </a:xfrm>
          <a:prstGeom prst="roundRect">
            <a:avLst>
              <a:gd name="adj" fmla="val 12381"/>
            </a:avLst>
          </a:prstGeom>
        </p:spPr>
      </p:pic>
      <p:sp>
        <p:nvSpPr>
          <p:cNvPr id="10" name="Text 6"/>
          <p:cNvSpPr/>
          <p:nvPr/>
        </p:nvSpPr>
        <p:spPr>
          <a:xfrm>
            <a:off x="4080391" y="4916171"/>
            <a:ext cx="13387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기간별 따라잡기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467862" y="5231129"/>
            <a:ext cx="256387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F4A4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며칠 못 본 안내를 모아 바뀐 것부터 확인해요.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724650" y="1823721"/>
            <a:ext cx="1435100" cy="2990850"/>
          </a:xfrm>
          <a:prstGeom prst="roundRect">
            <a:avLst>
              <a:gd name="adj" fmla="val 15044"/>
            </a:avLst>
          </a:prstGeom>
          <a:solidFill>
            <a:srgbClr val="2A2925"/>
          </a:solidFill>
          <a:ln/>
          <a:effectLst>
            <a:outerShdw sx="100000" sy="100000" kx="0" ky="0" algn="bl" rotWithShape="0" blurRad="101600" dist="127000" dir="5400000">
              <a:srgbClr val="20201D">
                <a:alpha val="45000"/>
              </a:srgbClr>
            </a:outerShdw>
          </a:effectLst>
        </p:spPr>
      </p:sp>
      <p:pic>
        <p:nvPicPr>
          <p:cNvPr id="13" name="Image 2" descr="학생의 일정: 한 주 날짜 띠와 고른 날, 과제·수행평가·시험 필터, D-1 '수학 익힘책 42~45쪽 제출'">    </p:cNvPr>
          <p:cNvPicPr>
            <a:picLocks noChangeAspect="1"/>
          </p:cNvPicPr>
          <p:nvPr/>
        </p:nvPicPr>
        <p:blipFill>
          <a:blip r:embed="rId3"/>
          <a:srcRect l="59" r="59" t="0" b="0"/>
          <a:stretch/>
        </p:blipFill>
        <p:spPr>
          <a:xfrm>
            <a:off x="6775450" y="1874521"/>
            <a:ext cx="1333500" cy="2889250"/>
          </a:xfrm>
          <a:prstGeom prst="roundRect">
            <a:avLst>
              <a:gd name="adj" fmla="val 12381"/>
            </a:avLst>
          </a:prstGeom>
        </p:spPr>
      </p:pic>
      <p:sp>
        <p:nvSpPr>
          <p:cNvPr id="14" name="Text 9"/>
          <p:cNvSpPr/>
          <p:nvPr/>
        </p:nvSpPr>
        <p:spPr>
          <a:xfrm>
            <a:off x="7257796" y="4916171"/>
            <a:ext cx="368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일정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160262" y="5231129"/>
            <a:ext cx="256387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F4A4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한 주 띠와 달력으로 남은 날(D-day)을 확인해요.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417050" y="1823721"/>
            <a:ext cx="1435100" cy="2990850"/>
          </a:xfrm>
          <a:prstGeom prst="roundRect">
            <a:avLst>
              <a:gd name="adj" fmla="val 15044"/>
            </a:avLst>
          </a:prstGeom>
          <a:solidFill>
            <a:srgbClr val="2A2925"/>
          </a:solidFill>
          <a:ln/>
          <a:effectLst>
            <a:outerShdw sx="100000" sy="100000" kx="0" ky="0" algn="bl" rotWithShape="0" blurRad="101600" dist="127000" dir="5400000">
              <a:srgbClr val="20201D">
                <a:alpha val="45000"/>
              </a:srgbClr>
            </a:outerShdw>
          </a:effectLst>
        </p:spPr>
      </p:sp>
      <p:pic>
        <p:nvPicPr>
          <p:cNvPr id="17" name="Image 3" descr="급식 화면: 이번 주·다음 주 전환과 요일 칸, 오늘 메뉴와 '교육청(나이스) 정보' 출처 표시">    </p:cNvPr>
          <p:cNvPicPr>
            <a:picLocks noChangeAspect="1"/>
          </p:cNvPicPr>
          <p:nvPr/>
        </p:nvPicPr>
        <p:blipFill>
          <a:blip r:embed="rId4"/>
          <a:srcRect l="59" r="59" t="0" b="0"/>
          <a:stretch/>
        </p:blipFill>
        <p:spPr>
          <a:xfrm>
            <a:off x="9467850" y="1874521"/>
            <a:ext cx="1333500" cy="2889250"/>
          </a:xfrm>
          <a:prstGeom prst="roundRect">
            <a:avLst>
              <a:gd name="adj" fmla="val 12381"/>
            </a:avLst>
          </a:prstGeom>
        </p:spPr>
      </p:pic>
      <p:sp>
        <p:nvSpPr>
          <p:cNvPr id="18" name="Text 12"/>
          <p:cNvSpPr/>
          <p:nvPr/>
        </p:nvSpPr>
        <p:spPr>
          <a:xfrm>
            <a:off x="9950196" y="4916171"/>
            <a:ext cx="368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급식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764722" y="5231129"/>
            <a:ext cx="2739676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F4A4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오늘·이번 주·다음 주 급식 메뉴를 봐요.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우리반 허브 · 화면 속 학교·이름·날짜는 모두 예시예요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1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D5A1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함께 · 반 활동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spc="-10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 의견을 모으고, 대표를 뽑아요.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1850" y="2436496"/>
            <a:ext cx="0" cy="861060"/>
          </a:xfrm>
          <a:prstGeom prst="line">
            <a:avLst/>
          </a:prstGeom>
          <a:noFill/>
          <a:ln w="38100">
            <a:solidFill>
              <a:srgbClr val="C9A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6160" y="2461896"/>
            <a:ext cx="471177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투표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6160" y="2776854"/>
            <a:ext cx="471177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E45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한 가지를 골라 의견을 모아요. 학생별 선택을 볼지, 결과를 언제 보여 줄지 정해요.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31850" y="3526154"/>
            <a:ext cx="0" cy="861060"/>
          </a:xfrm>
          <a:prstGeom prst="line">
            <a:avLst/>
          </a:prstGeom>
          <a:noFill/>
          <a:ln w="38100">
            <a:solidFill>
              <a:srgbClr val="C9A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6160" y="3551554"/>
            <a:ext cx="471177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대표 선거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6160" y="3866517"/>
            <a:ext cx="471177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E45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후보 등록 → 투표 → 마감 → 결과 공개, 4단계로 진행해요. 동점이면 선생님이 정할 수 있어요.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1850" y="4615817"/>
            <a:ext cx="0" cy="613410"/>
          </a:xfrm>
          <a:prstGeom prst="line">
            <a:avLst/>
          </a:prstGeom>
          <a:noFill/>
          <a:ln w="38100">
            <a:solidFill>
              <a:srgbClr val="C9A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6160" y="4641217"/>
            <a:ext cx="471177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 활동 한곳에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6160" y="4956175"/>
            <a:ext cx="471177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E45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진행 중인 투표와 선거를 한 화면에서 보고 참여해요.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07100" y="1906904"/>
            <a:ext cx="1689100" cy="3536950"/>
          </a:xfrm>
          <a:prstGeom prst="roundRect">
            <a:avLst>
              <a:gd name="adj" fmla="val 13534"/>
            </a:avLst>
          </a:prstGeom>
          <a:solidFill>
            <a:srgbClr val="2A2925"/>
          </a:solidFill>
          <a:ln/>
          <a:effectLst>
            <a:outerShdw sx="100000" sy="100000" kx="0" ky="0" algn="bl" rotWithShape="0" blurRad="101600" dist="127000" dir="5400000">
              <a:srgbClr val="20201D">
                <a:alpha val="45000"/>
              </a:srgbClr>
            </a:outerShdw>
          </a:effectLst>
        </p:spPr>
      </p:sp>
      <p:pic>
        <p:nvPicPr>
          <p:cNvPr id="14" name="Image 0" descr="학생의 반 활동 화면: 진행 중인 투표 '반 티셔츠 색 정하기'와 대표 선거 '2학기 학급 회장 선거'">    </p:cNvPr>
          <p:cNvPicPr>
            <a:picLocks noChangeAspect="1"/>
          </p:cNvPicPr>
          <p:nvPr/>
        </p:nvPicPr>
        <p:blipFill>
          <a:blip r:embed="rId1"/>
          <a:srcRect l="0" r="0" t="2" b="2"/>
          <a:stretch/>
        </p:blipFill>
        <p:spPr>
          <a:xfrm>
            <a:off x="6057900" y="1957704"/>
            <a:ext cx="1587500" cy="3435350"/>
          </a:xfrm>
          <a:prstGeom prst="roundRect">
            <a:avLst>
              <a:gd name="adj" fmla="val 11200"/>
            </a:avLst>
          </a:prstGeom>
        </p:spPr>
      </p:pic>
      <p:sp>
        <p:nvSpPr>
          <p:cNvPr id="15" name="Text 12"/>
          <p:cNvSpPr/>
          <p:nvPr/>
        </p:nvSpPr>
        <p:spPr>
          <a:xfrm>
            <a:off x="6593428" y="5545454"/>
            <a:ext cx="5164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 활동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848600" y="1906904"/>
            <a:ext cx="1689100" cy="3536950"/>
          </a:xfrm>
          <a:prstGeom prst="roundRect">
            <a:avLst>
              <a:gd name="adj" fmla="val 13534"/>
            </a:avLst>
          </a:prstGeom>
          <a:solidFill>
            <a:srgbClr val="2A2925"/>
          </a:solidFill>
          <a:ln/>
          <a:effectLst>
            <a:outerShdw sx="100000" sy="100000" kx="0" ky="0" algn="bl" rotWithShape="0" blurRad="101600" dist="127000" dir="5400000">
              <a:srgbClr val="20201D">
                <a:alpha val="45000"/>
              </a:srgbClr>
            </a:outerShdw>
          </a:effectLst>
        </p:spPr>
      </p:sp>
      <p:pic>
        <p:nvPicPr>
          <p:cNvPr id="17" name="Image 1" descr="투표 결과: 내 선택 연두색, 총 18명 참여, 선택지별 인원과 비율 막대">    </p:cNvPr>
          <p:cNvPicPr>
            <a:picLocks noChangeAspect="1"/>
          </p:cNvPicPr>
          <p:nvPr/>
        </p:nvPicPr>
        <p:blipFill>
          <a:blip r:embed="rId2"/>
          <a:srcRect l="0" r="0" t="2" b="2"/>
          <a:stretch/>
        </p:blipFill>
        <p:spPr>
          <a:xfrm>
            <a:off x="7899400" y="1957704"/>
            <a:ext cx="1587500" cy="3435350"/>
          </a:xfrm>
          <a:prstGeom prst="roundRect">
            <a:avLst>
              <a:gd name="adj" fmla="val 11200"/>
            </a:avLst>
          </a:prstGeom>
        </p:spPr>
      </p:pic>
      <p:sp>
        <p:nvSpPr>
          <p:cNvPr id="18" name="Text 14"/>
          <p:cNvSpPr/>
          <p:nvPr/>
        </p:nvSpPr>
        <p:spPr>
          <a:xfrm>
            <a:off x="8355878" y="5545454"/>
            <a:ext cx="6744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투표 결과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9690100" y="1906904"/>
            <a:ext cx="1689100" cy="3536950"/>
          </a:xfrm>
          <a:prstGeom prst="roundRect">
            <a:avLst>
              <a:gd name="adj" fmla="val 13534"/>
            </a:avLst>
          </a:prstGeom>
          <a:solidFill>
            <a:srgbClr val="2A2925"/>
          </a:solidFill>
          <a:ln/>
          <a:effectLst>
            <a:outerShdw sx="100000" sy="100000" kx="0" ky="0" algn="bl" rotWithShape="0" blurRad="101600" dist="127000" dir="5400000">
              <a:srgbClr val="20201D">
                <a:alpha val="45000"/>
              </a:srgbClr>
            </a:outerShdw>
          </a:effectLst>
        </p:spPr>
      </p:sp>
      <p:pic>
        <p:nvPicPr>
          <p:cNvPr id="20" name="Image 2" descr="선생님의 대표 선거 화면: 후보 등록·투표·마감·결과 공개 4단계 중 투표 단계, 등록된 후보 3명과 '투표 마감하고 개표' 버튼">    </p:cNvPr>
          <p:cNvPicPr>
            <a:picLocks noChangeAspect="1"/>
          </p:cNvPicPr>
          <p:nvPr/>
        </p:nvPicPr>
        <p:blipFill>
          <a:blip r:embed="rId3"/>
          <a:srcRect l="0" r="0" t="2" b="2"/>
          <a:stretch/>
        </p:blipFill>
        <p:spPr>
          <a:xfrm>
            <a:off x="9740900" y="1957704"/>
            <a:ext cx="1587500" cy="3435350"/>
          </a:xfrm>
          <a:prstGeom prst="roundRect">
            <a:avLst>
              <a:gd name="adj" fmla="val 11200"/>
            </a:avLst>
          </a:prstGeom>
        </p:spPr>
      </p:pic>
      <p:sp>
        <p:nvSpPr>
          <p:cNvPr id="21" name="Text 16"/>
          <p:cNvSpPr/>
          <p:nvPr/>
        </p:nvSpPr>
        <p:spPr>
          <a:xfrm>
            <a:off x="10197378" y="5545454"/>
            <a:ext cx="6744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대표 선거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44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우리반 허브 · 화면 속 학교·이름·날짜는 모두 예시예요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85292"/>
            <a:ext cx="28909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14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교실 PC에서도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076450"/>
            <a:ext cx="2890901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i="0" spc="-10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교실 PC에서는 한 화면에 모아 보여요.</a:t>
            </a:r>
            <a:endParaRPr lang="en-US" sz="3000" dirty="0"/>
          </a:p>
        </p:txBody>
      </p:sp>
      <p:pic>
        <p:nvPicPr>
          <p:cNvPr id="4" name="Image 0" descr="Check">    </p:cNvPr>
          <p:cNvPicPr>
            <a:picLocks noChangeAspect="1"/>
          </p:cNvPicPr>
          <p:nvPr/>
        </p:nvPicPr>
        <p:blipFill>
          <a:blip r:embed="rId1"/>
          <a:srcRect l="-134" r="-134" t="0" b="0"/>
          <a:stretch/>
        </p:blipFill>
        <p:spPr>
          <a:xfrm>
            <a:off x="812800" y="3168650"/>
            <a:ext cx="178276" cy="20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2676" y="3168650"/>
            <a:ext cx="2602629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A393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공지마다 확인한 학생 수가 막대로 보여요.</a:t>
            </a:r>
            <a:endParaRPr lang="en-US" sz="1400" dirty="0"/>
          </a:p>
        </p:txBody>
      </p:sp>
      <p:pic>
        <p:nvPicPr>
          <p:cNvPr id="6" name="Image 1" descr="Check">    </p:cNvPr>
          <p:cNvPicPr>
            <a:picLocks noChangeAspect="1"/>
          </p:cNvPicPr>
          <p:nvPr/>
        </p:nvPicPr>
        <p:blipFill>
          <a:blip r:embed="rId2"/>
          <a:srcRect l="0" r="0" t="-394" b="-394"/>
          <a:stretch/>
        </p:blipFill>
        <p:spPr>
          <a:xfrm>
            <a:off x="812800" y="3811271"/>
            <a:ext cx="151209" cy="20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65609" y="3811271"/>
            <a:ext cx="2630507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A393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출결 확인·도움 요청·가입 요청이 오른쪽에 모여요.</a:t>
            </a:r>
            <a:endParaRPr lang="en-US" sz="1400" dirty="0"/>
          </a:p>
        </p:txBody>
      </p:sp>
      <p:pic>
        <p:nvPicPr>
          <p:cNvPr id="8" name="Image 2" descr="Check">    </p:cNvPr>
          <p:cNvPicPr>
            <a:picLocks noChangeAspect="1"/>
          </p:cNvPicPr>
          <p:nvPr/>
        </p:nvPicPr>
        <p:blipFill>
          <a:blip r:embed="rId3"/>
          <a:srcRect l="-172" r="-172" t="0" b="0"/>
          <a:stretch/>
        </p:blipFill>
        <p:spPr>
          <a:xfrm>
            <a:off x="812800" y="4453892"/>
            <a:ext cx="184785" cy="203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9185" y="4453892"/>
            <a:ext cx="2595924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A393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밝은 화면·어두운 화면을 고를 수 있어요.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4337050" y="947421"/>
            <a:ext cx="6781800" cy="4305300"/>
          </a:xfrm>
          <a:custGeom>
            <a:avLst/>
            <a:gdLst/>
            <a:ahLst/>
            <a:cxnLst/>
            <a:rect l="l" t="t" r="r" b="b"/>
            <a:pathLst>
              <a:path w="6781800" h="4305300">
                <a:moveTo>
                  <a:pt x="127000" y="0"/>
                </a:moveTo>
                <a:lnTo>
                  <a:pt x="6654800" y="0"/>
                </a:lnTo>
                <a:arcTo hR="127000" wR="127000" stAng="16200000" swAng="5400000"/>
                <a:lnTo>
                  <a:pt x="6781800" y="4267200"/>
                </a:lnTo>
                <a:arcTo hR="38100" wR="38100" stAng="0" swAng="5400000"/>
                <a:lnTo>
                  <a:pt x="38100" y="4305300"/>
                </a:lnTo>
                <a:arcTo hR="38100" wR="381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2A2925"/>
          </a:solidFill>
          <a:ln/>
          <a:effectLst>
            <a:outerShdw sx="100000" sy="100000" kx="0" ky="0" algn="bl" rotWithShape="0" blurRad="165100" dist="165100" dir="5400000">
              <a:srgbClr val="20201D">
                <a:alpha val="5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425950" y="1036321"/>
            <a:ext cx="6604000" cy="4127500"/>
          </a:xfrm>
          <a:prstGeom prst="roundRect">
            <a:avLst>
              <a:gd name="adj" fmla="val 1231"/>
            </a:avLst>
          </a:prstGeom>
          <a:solidFill>
            <a:srgbClr val="FFFDF9"/>
          </a:solidFill>
          <a:ln/>
        </p:spPr>
      </p:sp>
      <p:pic>
        <p:nvPicPr>
          <p:cNvPr id="12" name="Image 3" descr="PC의 선생님 홈: 왼쪽 메뉴, 가운데 우리반 칠판과 공지별 확인 막대(16/23명), 오른쪽에 처리할 일(출결 확인 1·도움 요청 1·가입 요청 3)과 오늘 정보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425950" y="1036321"/>
            <a:ext cx="6604000" cy="4127500"/>
          </a:xfrm>
          <a:prstGeom prst="roundRect">
            <a:avLst>
              <a:gd name="adj" fmla="val 1231"/>
            </a:avLst>
          </a:prstGeom>
        </p:spPr>
      </p:pic>
      <p:sp>
        <p:nvSpPr>
          <p:cNvPr id="13" name="Shape 7"/>
          <p:cNvSpPr/>
          <p:nvPr/>
        </p:nvSpPr>
        <p:spPr>
          <a:xfrm>
            <a:off x="4076700" y="5252721"/>
            <a:ext cx="7302500" cy="114300"/>
          </a:xfrm>
          <a:custGeom>
            <a:avLst/>
            <a:gdLst/>
            <a:ahLst/>
            <a:cxnLst/>
            <a:rect l="l" t="t" r="r" b="b"/>
            <a:pathLst>
              <a:path w="7302500" h="114300">
                <a:moveTo>
                  <a:pt x="0" y="0"/>
                </a:moveTo>
                <a:lnTo>
                  <a:pt x="7302500" y="0"/>
                </a:lnTo>
                <a:lnTo>
                  <a:pt x="7302500" y="12700"/>
                </a:lnTo>
                <a:arcTo hR="101600" wR="101600" stAng="0" swAng="5400000"/>
                <a:lnTo>
                  <a:pt x="101600" y="114300"/>
                </a:lnTo>
                <a:arcTo hR="101600" wR="101600" stAng="5400000" swAng="5400000"/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D8D4CC"/>
              </a:gs>
              <a:gs pos="100000">
                <a:srgbClr val="B9B3A8"/>
              </a:gs>
            </a:gsLst>
            <a:lin ang="5400000" scaled="0"/>
          </a:gradFill>
          <a:ln/>
        </p:spPr>
      </p:sp>
      <p:sp>
        <p:nvSpPr>
          <p:cNvPr id="14" name="Text 8"/>
          <p:cNvSpPr/>
          <p:nvPr/>
        </p:nvSpPr>
        <p:spPr>
          <a:xfrm>
            <a:off x="7067209" y="5494021"/>
            <a:ext cx="13214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선생님 PC 홈 화면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우리반 허브 · 화면 속 학교·이름·날짜는 모두 예시예요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14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비교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spc="-10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다른 학급 소통 방법과 이렇게 달라요.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69114"/>
            <a:ext cx="10566400" cy="2656840"/>
          </a:xfrm>
          <a:prstGeom prst="roundRect">
            <a:avLst>
              <a:gd name="adj" fmla="val 3824"/>
            </a:avLst>
          </a:prstGeom>
          <a:solidFill>
            <a:srgbClr val="FFFDF9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769114"/>
            <a:ext cx="10566400" cy="2656840"/>
          </a:xfrm>
          <a:custGeom>
            <a:avLst/>
            <a:gdLst/>
            <a:ahLst/>
            <a:cxnLst/>
            <a:rect l="l" t="t" r="r" b="b"/>
            <a:pathLst>
              <a:path w="10566400" h="2656840">
                <a:moveTo>
                  <a:pt x="10464800" y="0"/>
                </a:moveTo>
                <a:lnTo>
                  <a:pt x="10464800" y="0"/>
                </a:lnTo>
                <a:arcTo hR="101600" wR="101600" stAng="16200000" swAng="5400000"/>
                <a:lnTo>
                  <a:pt x="10566400" y="2555240"/>
                </a:lnTo>
                <a:arcTo hR="101600" wR="101600" stAng="0" swAng="5400000"/>
                <a:lnTo>
                  <a:pt x="101600" y="2656840"/>
                </a:lnTo>
                <a:arcTo hR="101600" wR="101600" stAng="5400000" swAng="5400000"/>
                <a:lnTo>
                  <a:pt x="0" y="2555240"/>
                </a:lnTo>
                <a:arcTo hR="95250" wR="101600" stAng="10800000" swAng="-5400000"/>
                <a:lnTo>
                  <a:pt x="10464800" y="2650490"/>
                </a:lnTo>
                <a:arcTo hR="95250" wR="95250" stAng="5400000" swAng="-5400000"/>
                <a:lnTo>
                  <a:pt x="10560050" y="101600"/>
                </a:lnTo>
                <a:arcTo hR="101600" wR="95250" stAng="0" swAng="-5400000"/>
                <a:close/>
              </a:path>
            </a:pathLst>
          </a:custGeom>
          <a:solidFill>
            <a:srgbClr val="E2DDD4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769114"/>
            <a:ext cx="10566400" cy="2656840"/>
          </a:xfrm>
          <a:custGeom>
            <a:avLst/>
            <a:gdLst/>
            <a:ahLst/>
            <a:cxnLst/>
            <a:rect l="l" t="t" r="r" b="b"/>
            <a:pathLst>
              <a:path w="10566400" h="2656840">
                <a:moveTo>
                  <a:pt x="101600" y="2656840"/>
                </a:moveTo>
                <a:lnTo>
                  <a:pt x="101600" y="265684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464800" y="0"/>
                </a:lnTo>
                <a:arcTo hR="101600" wR="101600" stAng="16200000" swAng="5400000"/>
                <a:lnTo>
                  <a:pt x="10566400" y="101600"/>
                </a:lnTo>
                <a:arcTo hR="91440" wR="101600" stAng="0" swAng="-5400000"/>
                <a:lnTo>
                  <a:pt x="101600" y="10160"/>
                </a:lnTo>
                <a:arcTo hR="91440" wR="91440" stAng="16200000" swAng="-5400000"/>
                <a:lnTo>
                  <a:pt x="10160" y="2555240"/>
                </a:lnTo>
                <a:arcTo hR="101600" wR="914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79274"/>
          <a:ext cx="10551160" cy="2641600"/>
        </p:xfrm>
        <a:graphic>
          <a:graphicData uri="http://schemas.openxmlformats.org/drawingml/2006/table">
            <a:tbl>
              <a:tblPr/>
              <a:tblGrid>
                <a:gridCol w="3798418"/>
                <a:gridCol w="1688186"/>
                <a:gridCol w="1688186"/>
                <a:gridCol w="1688186"/>
                <a:gridCol w="1688186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F1EA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항목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F1EA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단체 대화방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F1EA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알림장형 앱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F1EA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커뮤니티형 학급 앱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C84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우리반 허브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D3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0201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공지가 대화에 묻히지 않아요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D5A1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△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0201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○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D5A1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△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6149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○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4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0201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누가 확인했는지 학생별로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8A4B3C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×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D5A1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△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D5A1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△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6149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○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0201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고친 공지를 다시 확인받기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8A4B3C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×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D5A1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△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D5A1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△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6149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○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0201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안 본 학생에게만 다시 알리기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8A4B3C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×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D5A1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△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D5A1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△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6149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○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0201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전화번호 없이 가입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8A4B3C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×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D5A1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△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D5A1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△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6149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○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0201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다른 학생 모르게 선생님께 질문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D5A1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△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D5A1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△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D5A1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△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6149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○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0201D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밤에는 반 대화 쉬게 하기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8A4B3C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×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D5A1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△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D5A1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△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6149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○</a:t>
                      </a:r>
                      <a:endParaRPr lang="en-US" sz="1200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465455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393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○ 기본으로 돼요 · △ 서비스나 설정마다 달라요 · × 어려워요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800" y="4918714"/>
            <a:ext cx="10883392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종류별로 흔히 볼 수 있는 모습을 정리했어요. 특정 서비스를 가리키지 않으며, 서비스마다 실제 기능은 다를 수 있어요.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우리반 허브 · 공개 체험 소개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14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개인정보와 안전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spc="-10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꼭 필요한 정보만 받고, 승인한 학생만 들어와요.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48489"/>
            <a:ext cx="3380264" cy="1623060"/>
          </a:xfrm>
          <a:prstGeom prst="roundRect">
            <a:avLst>
              <a:gd name="adj" fmla="val 9194"/>
            </a:avLst>
          </a:prstGeom>
          <a:solidFill>
            <a:srgbClr val="FFFDF9"/>
          </a:solidFill>
          <a:ln w="6350">
            <a:solidFill>
              <a:srgbClr val="E2DDD4"/>
            </a:solidFill>
            <a:prstDash val="solid"/>
          </a:ln>
        </p:spPr>
      </p:sp>
      <p:pic>
        <p:nvPicPr>
          <p:cNvPr id="5" name="Image 0" descr="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480" y="2078992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6480" y="2447292"/>
            <a:ext cx="300683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선생님이 승인해야 들어와요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46480" y="2783842"/>
            <a:ext cx="300683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초대 코드를 알아도 승인 전에는 반 자료를 볼 수 없어요.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5789" y="1848489"/>
            <a:ext cx="3380343" cy="1623060"/>
          </a:xfrm>
          <a:prstGeom prst="roundRect">
            <a:avLst>
              <a:gd name="adj" fmla="val 9194"/>
            </a:avLst>
          </a:prstGeom>
          <a:solidFill>
            <a:srgbClr val="FFFDF9"/>
          </a:solidFill>
          <a:ln w="6350">
            <a:solidFill>
              <a:srgbClr val="E2DDD4"/>
            </a:solidFill>
            <a:prstDash val="solid"/>
          </a:ln>
        </p:spPr>
      </p:sp>
      <p:pic>
        <p:nvPicPr>
          <p:cNvPr id="9" name="Image 1" descr="Trus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36294" y="2078992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6294" y="2447292"/>
            <a:ext cx="300691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전화번호를 받지 않아요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36294" y="2783842"/>
            <a:ext cx="300691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이메일로 가입하고, 승인 화면에서도 이메일 일부는 가려져요.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95682" y="1848489"/>
            <a:ext cx="3380343" cy="1623060"/>
          </a:xfrm>
          <a:prstGeom prst="roundRect">
            <a:avLst>
              <a:gd name="adj" fmla="val 9194"/>
            </a:avLst>
          </a:prstGeom>
          <a:solidFill>
            <a:srgbClr val="FFFDF9"/>
          </a:solidFill>
          <a:ln w="6350">
            <a:solidFill>
              <a:srgbClr val="E2DDD4"/>
            </a:solidFill>
            <a:prstDash val="solid"/>
          </a:ln>
        </p:spPr>
      </p:sp>
      <p:pic>
        <p:nvPicPr>
          <p:cNvPr id="13" name="Image 2" descr="Cha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6187" y="2078992"/>
            <a:ext cx="279400" cy="279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6187" y="2447292"/>
            <a:ext cx="300691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도움 대화는 선생님만 봐요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26187" y="2783842"/>
            <a:ext cx="300691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질문과 답장은 그 학생과 담임 선생님만 볼 수 있어요.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5975" y="3681096"/>
            <a:ext cx="3380264" cy="1623060"/>
          </a:xfrm>
          <a:prstGeom prst="roundRect">
            <a:avLst>
              <a:gd name="adj" fmla="val 9194"/>
            </a:avLst>
          </a:prstGeom>
          <a:solidFill>
            <a:srgbClr val="FFFDF9"/>
          </a:solidFill>
          <a:ln w="6350">
            <a:solidFill>
              <a:srgbClr val="E2DDD4"/>
            </a:solidFill>
            <a:prstDash val="solid"/>
          </a:ln>
        </p:spPr>
      </p:sp>
      <p:pic>
        <p:nvPicPr>
          <p:cNvPr id="17" name="Image 3" descr="GraduationCap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46480" y="3911600"/>
            <a:ext cx="279400" cy="279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46480" y="4279900"/>
            <a:ext cx="300683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만 14세 이상만 참여해요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046480" y="4616450"/>
            <a:ext cx="300683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학생은 중학교 3학년 이상. 생년월일과 프로필 사진은 원할 때만 입력해요.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405789" y="3681096"/>
            <a:ext cx="3380343" cy="1623060"/>
          </a:xfrm>
          <a:prstGeom prst="roundRect">
            <a:avLst>
              <a:gd name="adj" fmla="val 9194"/>
            </a:avLst>
          </a:prstGeom>
          <a:solidFill>
            <a:srgbClr val="FFFDF9"/>
          </a:solidFill>
          <a:ln w="6350">
            <a:solidFill>
              <a:srgbClr val="E2DDD4"/>
            </a:solidFill>
            <a:prstDash val="solid"/>
          </a:ln>
        </p:spPr>
      </p:sp>
      <p:pic>
        <p:nvPicPr>
          <p:cNvPr id="21" name="Image 4" descr="Clo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36294" y="3911600"/>
            <a:ext cx="279400" cy="279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36294" y="4279900"/>
            <a:ext cx="300691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밤에는 반 대화가 쉬어요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636294" y="4616450"/>
            <a:ext cx="300691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 대화는 선생님이 열어야 쓰고, 밤 10시~아침 7시엔 학생이 보낼 수 없어요.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995682" y="3681096"/>
            <a:ext cx="3380343" cy="1623060"/>
          </a:xfrm>
          <a:prstGeom prst="roundRect">
            <a:avLst>
              <a:gd name="adj" fmla="val 9194"/>
            </a:avLst>
          </a:prstGeom>
          <a:solidFill>
            <a:srgbClr val="FFFDF9"/>
          </a:solidFill>
          <a:ln w="6350">
            <a:solidFill>
              <a:srgbClr val="E2DDD4"/>
            </a:solidFill>
            <a:prstDash val="solid"/>
          </a:ln>
        </p:spPr>
      </p:sp>
      <p:pic>
        <p:nvPicPr>
          <p:cNvPr id="25" name="Image 5" descr="Settings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26187" y="3911600"/>
            <a:ext cx="279400" cy="2794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26187" y="4279900"/>
            <a:ext cx="300691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계정은 직접 삭제해요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226187" y="4616450"/>
            <a:ext cx="30069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설정에서 계정 삭제를 요청할 수 있어요.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25F5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우리반 허브 · 공개 체험 소개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C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27479"/>
            <a:ext cx="49132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4E2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공개 체험 안내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818642"/>
            <a:ext cx="4913224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i="0" spc="-10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지금은 개발 중인</a:t>
            </a:r>
            <a:endParaRPr lang="en-US" sz="30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000" b="1" i="0" spc="-100" kern="0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공개 체험 단계예요.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2910842"/>
            <a:ext cx="49132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23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먼저 화면과 기능을 써 보고, 불편한 점이나 의견을 알려 주세요.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3361692"/>
            <a:ext cx="4757420" cy="1859280"/>
          </a:xfrm>
          <a:prstGeom prst="roundRect">
            <a:avLst>
              <a:gd name="adj" fmla="val 6489"/>
            </a:avLst>
          </a:prstGeom>
          <a:solidFill>
            <a:srgbClr val="FDF3D0"/>
          </a:solidFill>
          <a:ln w="12700">
            <a:solidFill>
              <a:srgbClr val="E2BD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568700"/>
            <a:ext cx="44213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4E3F1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미리 알려 드려요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6716" y="3870964"/>
            <a:ext cx="430860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8844" indent="-14884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E3F1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개발자가 직접 서버를 운영해요. 점검·재시작 중에는 잠시 접속이 안 될 수 있어요.</a:t>
            </a:r>
            <a:endParaRPr lang="en-US" sz="1200" dirty="0"/>
          </a:p>
          <a:p>
            <a:pPr algn="l" marL="148844" indent="-14884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E3F1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학부모 화면은 아직 없어요.</a:t>
            </a:r>
            <a:endParaRPr lang="en-US" sz="1200" dirty="0"/>
          </a:p>
          <a:p>
            <a:pPr algn="l" marL="148844" indent="-14884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E3F1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개인정보처리방침은 개발본이에요. 실제 학급 운영 전에 확정·게시할 예정이에요.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92495" y="1527175"/>
            <a:ext cx="5383530" cy="3600450"/>
          </a:xfrm>
          <a:prstGeom prst="roundRect">
            <a:avLst>
              <a:gd name="adj" fmla="val 4145"/>
            </a:avLst>
          </a:prstGeom>
          <a:solidFill>
            <a:srgbClr val="FFFDF9"/>
          </a:solidFill>
          <a:ln w="6350">
            <a:solidFill>
              <a:srgbClr val="E2D6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99200" y="1833879"/>
            <a:ext cx="491322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0201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체험 전에 알아 두세요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99200" y="2230121"/>
            <a:ext cx="10033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A4E2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4100" y="2230121"/>
            <a:ext cx="34010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A393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만 14세 이상. 학생은 중학교 3학년 이상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99200" y="2630171"/>
            <a:ext cx="10033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A4E2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04100" y="2630171"/>
            <a:ext cx="340106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A393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회원가입·이메일 인증 후 로그인해요. 교사 기능은 운영자 승인이 필요해요.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99200" y="3277871"/>
            <a:ext cx="10033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A4E2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학생 참여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04100" y="3277871"/>
            <a:ext cx="340106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A393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선생님의 초대 코드와 승인이 있어야 반 자료를 볼 수 있어요.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99200" y="3925571"/>
            <a:ext cx="10033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A4E2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체험 자료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04100" y="3925571"/>
            <a:ext cx="340106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A393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실제 학생 이름·연락처 대신 예시 정보를 사용해 주세요.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9200" y="4573271"/>
            <a:ext cx="10033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A4E2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앱 주소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04100" y="4573271"/>
            <a:ext cx="34010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A393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소개 사이트에서 최신 앱 주소를 안내해요.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64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우리반 허브 · 공개 체험 소개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5C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F5C48"/>
              </a:gs>
              <a:gs pos="100000">
                <a:srgbClr val="1B3A2D"/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273050" y="273050"/>
            <a:ext cx="11645900" cy="6311900"/>
          </a:xfrm>
          <a:prstGeom prst="roundRect">
            <a:avLst>
              <a:gd name="adj" fmla="val 2515"/>
            </a:avLst>
          </a:prstGeom>
          <a:noFill/>
          <a:ln w="38100">
            <a:solidFill>
              <a:srgbClr val="B58C5C"/>
            </a:solidFill>
            <a:prstDash val="solid"/>
          </a:ln>
        </p:spPr>
      </p:sp>
      <p:pic>
        <p:nvPicPr>
          <p:cNvPr id="4" name="Image 0" descr="우리반 허브 앱 아이콘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40400" y="1386842"/>
            <a:ext cx="711200" cy="711200"/>
          </a:xfrm>
          <a:prstGeom prst="roundRect">
            <a:avLst>
              <a:gd name="adj" fmla="val 25000"/>
            </a:avLst>
          </a:prstGeom>
        </p:spPr>
      </p:pic>
      <p:sp>
        <p:nvSpPr>
          <p:cNvPr id="5" name="Text 2"/>
          <p:cNvSpPr/>
          <p:nvPr>
            <p:ph type="title"/>
          </p:nvPr>
        </p:nvSpPr>
        <p:spPr>
          <a:xfrm>
            <a:off x="4062231" y="2326642"/>
            <a:ext cx="4067537" cy="142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520"/>
              </a:lnSpc>
              <a:buNone/>
            </a:pPr>
            <a:r>
              <a:rPr lang="en-US" sz="4800" b="1" i="0" spc="-150" kern="0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우리반 허브를</a:t>
            </a:r>
            <a:endParaRPr lang="en-US" sz="4800" dirty="0"/>
          </a:p>
          <a:p>
            <a:pPr algn="ctr" indent="0" marL="0">
              <a:lnSpc>
                <a:spcPts val="5520"/>
              </a:lnSpc>
              <a:buNone/>
            </a:pPr>
            <a:r>
              <a:rPr lang="en-US" sz="4800" b="1" i="0" spc="-150" kern="0" dirty="0">
                <a:solidFill>
                  <a:srgbClr val="F3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직접 열어 보세요.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2610810" y="3957321"/>
            <a:ext cx="69703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3EBE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소개 사이트에서 최신 앱 주소와 체험 방법, 자주 묻는 질문을 볼 수 있어요.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35504" y="4490721"/>
            <a:ext cx="4120991" cy="538480"/>
          </a:xfrm>
          <a:prstGeom prst="roundRect">
            <a:avLst>
              <a:gd name="adj" fmla="val 50000"/>
            </a:avLst>
          </a:prstGeom>
          <a:solidFill>
            <a:srgbClr val="F3F1E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u="sng" dirty="0">
                <a:solidFill>
                  <a:srgbClr val="1B3A2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kkoma1212.github.io/uriban-hub-site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70108" y="5257800"/>
            <a:ext cx="28517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8D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화면 속 학교·이름·날짜는 모두 예시예요.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반 허브 소개">
  <a:themeElements>
    <a:clrScheme name="우리반 허브 소개">
      <a:dk1>
        <a:srgbClr val="20201D"/>
      </a:dk1>
      <a:lt1>
        <a:srgbClr val="F6F4F0"/>
      </a:lt1>
      <a:dk2>
        <a:srgbClr val="565552"/>
      </a:dk2>
      <a:lt2>
        <a:srgbClr val="E1DFDB"/>
      </a:lt2>
      <a:accent1>
        <a:srgbClr val="7A4E24"/>
      </a:accent1>
      <a:accent2>
        <a:srgbClr val="2B6149"/>
      </a:accent2>
      <a:accent3>
        <a:srgbClr val="244D3C"/>
      </a:accent3>
      <a:accent4>
        <a:srgbClr val="D9B98A"/>
      </a:accent4>
      <a:accent5>
        <a:srgbClr val="2F5C48"/>
      </a:accent5>
      <a:accent6>
        <a:srgbClr val="7D5A12"/>
      </a:accent6>
      <a:hlink>
        <a:srgbClr val="0563C1"/>
      </a:hlink>
      <a:folHlink>
        <a:srgbClr val="954F72"/>
      </a:folHlink>
    </a:clrScheme>
    <a:fontScheme name="우리반 허브 소개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우리반 허브 소개</dc:title>
  <dc:subject/>
  <dc:creator/>
  <cp:lastModifiedBy/>
  <cp:revision>1</cp:revision>
  <dcterms:created xsi:type="dcterms:W3CDTF">2026-10-04T09:33:36Z</dcterms:created>
  <dcterms:modified xsi:type="dcterms:W3CDTF">2026-10-04T09:33:36Z</dcterms:modified>
</cp:coreProperties>
</file>